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Arial Black" panose="020B0A04020102020204" pitchFamily="34" charset="0"/>
      <p:regular r:id="rId13"/>
      <p:bold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18iiTb2OpWooIr8bn3VTtcI81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Vrinda_Sales_Project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Vrinda_Sales_Project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Vrinda_Sales_Project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Vrinda_Sales_Project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Vrinda_Sales_Project1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Vrinda_Sales_Project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Vrinda_Sales_Project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[Vrinda_Sales_Project1.xlsx]Orders Vs Sales!PivotTable1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 Vs Sales</a:t>
            </a:r>
          </a:p>
        </c:rich>
      </c:tx>
      <c:layout>
        <c:manualLayout>
          <c:xMode val="edge"/>
          <c:yMode val="edge"/>
          <c:x val="2.0850048088662539E-2"/>
          <c:y val="3.0809944155656049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8000"/>
                  <a:lumMod val="94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4875961855377826"/>
          <c:y val="0.18787601092805778"/>
          <c:w val="0.75268687838017734"/>
          <c:h val="0.719790140839355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'Orders Vs Sales'!$B$3</c:f>
              <c:strCache>
                <c:ptCount val="1"/>
                <c:pt idx="0">
                  <c:v>Sum of AMenount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8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'Orders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'Orders Vs Sales'!$B$4:$B$15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21-4F28-9E32-692D5CC3A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2721088"/>
        <c:axId val="2062730336"/>
      </c:barChart>
      <c:lineChart>
        <c:grouping val="standard"/>
        <c:varyColors val="0"/>
        <c:ser>
          <c:idx val="1"/>
          <c:order val="1"/>
          <c:tx>
            <c:strRef>
              <c:f>'Orders Vs Sales'!$C$3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'Orders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'Orders Vs Sales'!$C$4:$C$15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21-4F28-9E32-692D5CC3A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2723808"/>
        <c:axId val="2062727072"/>
      </c:lineChart>
      <c:catAx>
        <c:axId val="206272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30336"/>
        <c:crosses val="autoZero"/>
        <c:auto val="1"/>
        <c:lblAlgn val="ctr"/>
        <c:lblOffset val="100"/>
        <c:noMultiLvlLbl val="0"/>
      </c:catAx>
      <c:valAx>
        <c:axId val="206273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1088"/>
        <c:crosses val="autoZero"/>
        <c:crossBetween val="between"/>
      </c:valAx>
      <c:valAx>
        <c:axId val="2062727072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3808"/>
        <c:crosses val="max"/>
        <c:crossBetween val="between"/>
      </c:valAx>
      <c:catAx>
        <c:axId val="206272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2727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2943615997101986"/>
          <c:y val="7.4784347490223233E-3"/>
          <c:w val="0.56755015494444705"/>
          <c:h val="0.143190543405346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[Vrinda_Sales_Project1.xlsx]Orders Vs Sales!PivotTable1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 Vs Sales</a:t>
            </a:r>
          </a:p>
        </c:rich>
      </c:tx>
      <c:layout>
        <c:manualLayout>
          <c:xMode val="edge"/>
          <c:yMode val="edge"/>
          <c:x val="2.0850048088662539E-2"/>
          <c:y val="3.0809944155656049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8000"/>
                  <a:lumMod val="94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4875961855377826"/>
          <c:y val="0.18787601092805778"/>
          <c:w val="0.75268687838017734"/>
          <c:h val="0.719790140839355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'Orders Vs Sales'!$B$3</c:f>
              <c:strCache>
                <c:ptCount val="1"/>
                <c:pt idx="0">
                  <c:v>Sum of AMenount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8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'Orders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'Orders Vs Sales'!$B$4:$B$15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11-493F-A13B-1C26D24EA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2724352"/>
        <c:axId val="2062720000"/>
      </c:barChart>
      <c:lineChart>
        <c:grouping val="standard"/>
        <c:varyColors val="0"/>
        <c:ser>
          <c:idx val="1"/>
          <c:order val="1"/>
          <c:tx>
            <c:strRef>
              <c:f>'Orders Vs Sales'!$C$3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'Orders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'Orders Vs Sales'!$C$4:$C$15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11-493F-A13B-1C26D24EA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2725440"/>
        <c:axId val="2062730880"/>
      </c:lineChart>
      <c:catAx>
        <c:axId val="206272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0000"/>
        <c:crosses val="autoZero"/>
        <c:auto val="1"/>
        <c:lblAlgn val="ctr"/>
        <c:lblOffset val="100"/>
        <c:noMultiLvlLbl val="0"/>
      </c:catAx>
      <c:valAx>
        <c:axId val="206272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4352"/>
        <c:crosses val="autoZero"/>
        <c:crossBetween val="between"/>
      </c:valAx>
      <c:valAx>
        <c:axId val="2062730880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5440"/>
        <c:crosses val="max"/>
        <c:crossBetween val="between"/>
      </c:valAx>
      <c:catAx>
        <c:axId val="2062725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27308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2943615997101986"/>
          <c:y val="7.4784347490223233E-3"/>
          <c:w val="0.56755015494444705"/>
          <c:h val="0.143190543405346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[Vrinda_Sales_Project1.xlsx]Men Vs Women!PivotTable2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: Men Vs Women</a:t>
            </a:r>
          </a:p>
        </c:rich>
      </c:tx>
      <c:layout>
        <c:manualLayout>
          <c:xMode val="edge"/>
          <c:yMode val="edge"/>
          <c:x val="2.9092594257485709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2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774643222167545"/>
              <c:y val="-0.1805553732866725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937341484650036"/>
                  <c:h val="0.24129192184310291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5492391263201"/>
              <c:y val="5.09259259259259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5492391263201"/>
              <c:y val="5.09259259259259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774643222167545"/>
              <c:y val="-0.1805553732866725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937341484650036"/>
                  <c:h val="0.24129192184310291"/>
                </c:manualLayout>
              </c15:layout>
            </c:ext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5492391263201"/>
              <c:y val="5.09259259259259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774643222167545"/>
              <c:y val="-0.1805553732866725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937341484650036"/>
                  <c:h val="0.24129192184310291"/>
                </c:manualLayout>
              </c15:layout>
            </c:ext>
          </c:extLst>
        </c:dLbl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5492391263201"/>
              <c:y val="5.09259259259259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774643222167545"/>
              <c:y val="-0.1805553732866725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937341484650036"/>
                  <c:h val="0.24129192184310291"/>
                </c:manualLayout>
              </c15:layout>
            </c:ext>
          </c:extLst>
        </c:dLbl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915492391263201"/>
              <c:y val="5.092592592592592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.15774643222167545"/>
              <c:y val="-0.1805553732866725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bg1"/>
                  </a:solidFill>
                  <a:latin typeface="Arial Rounded MT Bold" panose="020F070403050403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937341484650036"/>
                  <c:h val="0.24129192184310291"/>
                </c:manualLayout>
              </c15:layout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8244194079569971E-2"/>
          <c:y val="0.15729184893554973"/>
          <c:w val="0.7946170434757921"/>
          <c:h val="0.80104148439778367"/>
        </c:manualLayout>
      </c:layout>
      <c:pie3DChart>
        <c:varyColors val="1"/>
        <c:ser>
          <c:idx val="0"/>
          <c:order val="0"/>
          <c:tx>
            <c:strRef>
              <c:f>'Men Vs Women'!$B$3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504-4BA1-B14E-C79AA94F248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504-4BA1-B14E-C79AA94F248E}"/>
              </c:ext>
            </c:extLst>
          </c:dPt>
          <c:dLbls>
            <c:dLbl>
              <c:idx val="0"/>
              <c:layout>
                <c:manualLayout>
                  <c:x val="-0.1915492391263201"/>
                  <c:y val="5.092592592592592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504-4BA1-B14E-C79AA94F248E}"/>
                </c:ext>
              </c:extLst>
            </c:dLbl>
            <c:dLbl>
              <c:idx val="1"/>
              <c:layout>
                <c:manualLayout>
                  <c:x val="0.15774643222167545"/>
                  <c:y val="-0.1805553732866725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04-4BA1-B14E-C79AA94F24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'Men Vs Women'!$A$4:$A$5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'Men Vs Women'!$B$4:$B$5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04-4BA1-B14E-C79AA94F2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734130239151377"/>
          <c:y val="2.4339015574322796E-3"/>
          <c:w val="0.31725983323909562"/>
          <c:h val="0.150293641766750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[Vrinda_Sales_Project1.xlsx]Order Status!PivotTable3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641300077011333E-2"/>
              <c:y val="-7.870370370370370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050465997141043E-4"/>
              <c:y val="2.31481481481480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253728762946548E-2"/>
              <c:y val="0.10648148148148148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5758404450941"/>
              <c:y val="-6.94444444444445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  <c15:layout>
                <c:manualLayout>
                  <c:w val="0.2332965564933126"/>
                  <c:h val="0.11673082531350248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253728762946548E-2"/>
              <c:y val="0.10648148148148148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5758404450941"/>
              <c:y val="-6.94444444444445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  <c15:layout>
                <c:manualLayout>
                  <c:w val="0.2332965564933126"/>
                  <c:h val="0.11673082531350248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641300077011333E-2"/>
              <c:y val="-7.870370370370370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050465997141043E-4"/>
              <c:y val="2.31481481481480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4.253728762946548E-2"/>
              <c:y val="0.10648148148148148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4435758404450941"/>
              <c:y val="-6.94444444444445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  <c15:layout>
                <c:manualLayout>
                  <c:w val="0.2332965564933126"/>
                  <c:h val="0.11673082531350248"/>
                </c:manualLayout>
              </c15:layout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641300077011333E-2"/>
              <c:y val="-7.8703703703703706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050465997141043E-4"/>
              <c:y val="2.3148148148148064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6.1443726719788767E-2"/>
          <c:y val="0.17712197433654131"/>
          <c:w val="0.66164332751819199"/>
          <c:h val="0.76732247010790322"/>
        </c:manualLayout>
      </c:layout>
      <c:pieChart>
        <c:varyColors val="1"/>
        <c:ser>
          <c:idx val="0"/>
          <c:order val="0"/>
          <c:tx>
            <c:strRef>
              <c:f>'Order Status'!$B$3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7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D35-454B-9CA4-B6E5A6385D5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D35-454B-9CA4-B6E5A6385D5F}"/>
              </c:ext>
            </c:extLst>
          </c:dPt>
          <c:dPt>
            <c:idx val="2"/>
            <c:bubble3D val="0"/>
            <c:explosion val="6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D35-454B-9CA4-B6E5A6385D5F}"/>
              </c:ext>
            </c:extLst>
          </c:dPt>
          <c:dPt>
            <c:idx val="3"/>
            <c:bubble3D val="0"/>
            <c:explosion val="19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D35-454B-9CA4-B6E5A6385D5F}"/>
              </c:ext>
            </c:extLst>
          </c:dPt>
          <c:dLbls>
            <c:dLbl>
              <c:idx val="0"/>
              <c:layout>
                <c:manualLayout>
                  <c:x val="3.1427387267555324E-4"/>
                  <c:y val="0.1639394885204332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D35-454B-9CA4-B6E5A6385D5F}"/>
                </c:ext>
              </c:extLst>
            </c:dLbl>
            <c:dLbl>
              <c:idx val="1"/>
              <c:layout>
                <c:manualLayout>
                  <c:x val="1.7543535183287891E-2"/>
                  <c:y val="-0.2676938790541494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D35-454B-9CA4-B6E5A6385D5F}"/>
                </c:ext>
              </c:extLst>
            </c:dLbl>
            <c:dLbl>
              <c:idx val="2"/>
              <c:layout>
                <c:manualLayout>
                  <c:x val="-2.9252464560703923E-2"/>
                  <c:y val="-0.1746681104543516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D35-454B-9CA4-B6E5A6385D5F}"/>
                </c:ext>
              </c:extLst>
            </c:dLbl>
            <c:dLbl>
              <c:idx val="3"/>
              <c:layout>
                <c:manualLayout>
                  <c:x val="2.6634403401041336E-2"/>
                  <c:y val="2.0184529541034255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D35-454B-9CA4-B6E5A6385D5F}"/>
                </c:ext>
              </c:extLst>
            </c:dLbl>
            <c:spPr>
              <a:pattFill prst="pct75">
                <a:fgClr>
                  <a:prstClr val="black">
                    <a:lumMod val="75000"/>
                    <a:lumOff val="25000"/>
                  </a:prstClr>
                </a:fgClr>
                <a:bgClr>
                  <a:prstClr val="black">
                    <a:lumMod val="65000"/>
                    <a:lumOff val="35000"/>
                  </a:prst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'Order 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'Order Status'!$B$4:$B$7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35-454B-9CA4-B6E5A6385D5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91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[Vrinda_Sales_Project1.xlsx]Sales!PivotTable4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: Top 10 States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Sales!$B$3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8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Sales!$A$4:$A$13</c:f>
              <c:strCache>
                <c:ptCount val="10"/>
                <c:pt idx="0">
                  <c:v>MAHARASHTRA</c:v>
                </c:pt>
                <c:pt idx="1">
                  <c:v>KARNATAKA</c:v>
                </c:pt>
                <c:pt idx="2">
                  <c:v>UTTAR PRADESH</c:v>
                </c:pt>
                <c:pt idx="3">
                  <c:v>TELANGANA</c:v>
                </c:pt>
                <c:pt idx="4">
                  <c:v>TAMIL NADU</c:v>
                </c:pt>
                <c:pt idx="5">
                  <c:v>DELHI</c:v>
                </c:pt>
                <c:pt idx="6">
                  <c:v>KERALA</c:v>
                </c:pt>
                <c:pt idx="7">
                  <c:v>WEST BENGAL</c:v>
                </c:pt>
                <c:pt idx="8">
                  <c:v>ANDHRA PRADESH</c:v>
                </c:pt>
                <c:pt idx="9">
                  <c:v>HARYANA</c:v>
                </c:pt>
              </c:strCache>
            </c:strRef>
          </c:cat>
          <c:val>
            <c:numRef>
              <c:f>Sales!$B$4:$B$13</c:f>
              <c:numCache>
                <c:formatCode>General</c:formatCode>
                <c:ptCount val="10"/>
                <c:pt idx="0">
                  <c:v>2982659</c:v>
                </c:pt>
                <c:pt idx="1">
                  <c:v>2646358</c:v>
                </c:pt>
                <c:pt idx="2">
                  <c:v>2104659</c:v>
                </c:pt>
                <c:pt idx="3">
                  <c:v>1712439</c:v>
                </c:pt>
                <c:pt idx="4">
                  <c:v>1678244</c:v>
                </c:pt>
                <c:pt idx="5">
                  <c:v>1266328</c:v>
                </c:pt>
                <c:pt idx="6">
                  <c:v>1008940</c:v>
                </c:pt>
                <c:pt idx="7">
                  <c:v>922444</c:v>
                </c:pt>
                <c:pt idx="8">
                  <c:v>918499</c:v>
                </c:pt>
                <c:pt idx="9">
                  <c:v>813320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86-4801-AD5D-3EEA886516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62718368"/>
        <c:axId val="2062727616"/>
      </c:barChart>
      <c:catAx>
        <c:axId val="2062718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7616"/>
        <c:crosses val="autoZero"/>
        <c:auto val="1"/>
        <c:lblAlgn val="ctr"/>
        <c:lblOffset val="100"/>
        <c:noMultiLvlLbl val="0"/>
      </c:catAx>
      <c:valAx>
        <c:axId val="2062727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1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[Vrinda_Sales_Project1.xlsx]Age n Gender!PivotTable5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IN"/>
              <a:t>Orders: Age Vs Gender</a:t>
            </a:r>
          </a:p>
        </c:rich>
      </c:tx>
      <c:layout>
        <c:manualLayout>
          <c:xMode val="edge"/>
          <c:yMode val="edge"/>
          <c:x val="3.843044619422571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220603674540682"/>
          <c:y val="0.17634259259259263"/>
          <c:w val="0.86435892388451452"/>
          <c:h val="0.73940616797900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'Age n Gender'!$B$3:$B$4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n Gender'!$B$5:$B$7</c:f>
              <c:numCache>
                <c:formatCode>0.00%</c:formatCode>
                <c:ptCount val="3"/>
                <c:pt idx="0">
                  <c:v>0.25277804618803751</c:v>
                </c:pt>
                <c:pt idx="1">
                  <c:v>3.9230843559764229E-2</c:v>
                </c:pt>
                <c:pt idx="2">
                  <c:v>1.3785550938899089E-2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F-4C8B-924C-762E6A74FF5F}"/>
            </c:ext>
          </c:extLst>
        </c:ser>
        <c:ser>
          <c:idx val="1"/>
          <c:order val="1"/>
          <c:tx>
            <c:strRef>
              <c:f>'Age n Gender'!$C$3:$C$4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'Age n Gender'!$C$5:$C$7</c:f>
              <c:numCache>
                <c:formatCode>0.00%</c:formatCode>
                <c:ptCount val="3"/>
                <c:pt idx="0">
                  <c:v>0.57245466550713431</c:v>
                </c:pt>
                <c:pt idx="1">
                  <c:v>8.8446548780880596E-2</c:v>
                </c:pt>
                <c:pt idx="2">
                  <c:v>3.3304345025284246E-2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2F-4C8B-924C-762E6A74FF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99"/>
        <c:axId val="2062716736"/>
        <c:axId val="2062722176"/>
      </c:barChart>
      <c:catAx>
        <c:axId val="2062716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22176"/>
        <c:crosses val="autoZero"/>
        <c:auto val="1"/>
        <c:lblAlgn val="ctr"/>
        <c:lblOffset val="100"/>
        <c:noMultiLvlLbl val="0"/>
      </c:catAx>
      <c:valAx>
        <c:axId val="206272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271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267607174103237"/>
          <c:y val="1.4675196850393698E-2"/>
          <c:w val="0.33621281714785645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[Vrinda_Sales_Project1.xlsx]Orders Channels!PivotTable6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r>
              <a:rPr lang="en-US" sz="2400">
                <a:latin typeface="Arial Black" panose="020B0A04020102020204" pitchFamily="34" charset="0"/>
              </a:rPr>
              <a:t>Orders:</a:t>
            </a:r>
            <a:r>
              <a:rPr lang="en-US" sz="2400" baseline="0">
                <a:latin typeface="Arial Black" panose="020B0A04020102020204" pitchFamily="34" charset="0"/>
              </a:rPr>
              <a:t> Channels</a:t>
            </a:r>
            <a:endParaRPr lang="en-US" sz="2400"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3.1673447069116394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lumMod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>
              <a:lumMod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37164750957854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96738003906189E-17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96738003906189E-17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37164750957854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96738003906189E-17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37164750957854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96738003906189E-17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37164750957854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8096738003906189E-17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3716475095785452E-2"/>
              <c:y val="-4.166666666666666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'Orders Channels'!$B$3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38-447F-8CAE-BA0E72C65EE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38-447F-8CAE-BA0E72C65EE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38-447F-8CAE-BA0E72C65EE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38-447F-8CAE-BA0E72C65EE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A38-447F-8CAE-BA0E72C65EE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A38-447F-8CAE-BA0E72C65EE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A38-447F-8CAE-BA0E72C65EEF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A38-447F-8CAE-BA0E72C65EEF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A38-447F-8CAE-BA0E72C65EEF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CA38-447F-8CAE-BA0E72C65EEF}"/>
              </c:ext>
            </c:extLst>
          </c:dPt>
          <c:dLbls>
            <c:dLbl>
              <c:idx val="4"/>
              <c:layout>
                <c:manualLayout>
                  <c:x val="-2.8096738003906189E-17"/>
                  <c:y val="7.40740740740740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A38-447F-8CAE-BA0E72C65EEF}"/>
                </c:ext>
              </c:extLst>
            </c:dLbl>
            <c:dLbl>
              <c:idx val="6"/>
              <c:layout>
                <c:manualLayout>
                  <c:x val="-3.3716475095785452E-2"/>
                  <c:y val="-4.166666666666666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A38-447F-8CAE-BA0E72C65E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'Orders Channels'!$A$4:$A$13</c:f>
              <c:strCache>
                <c:ptCount val="10"/>
                <c:pt idx="0">
                  <c:v>Ajio</c:v>
                </c:pt>
                <c:pt idx="1">
                  <c:v>Amazon</c:v>
                </c:pt>
                <c:pt idx="2">
                  <c:v>AMenazon</c:v>
                </c:pt>
                <c:pt idx="3">
                  <c:v>Flipkart</c:v>
                </c:pt>
                <c:pt idx="4">
                  <c:v>Meesho</c:v>
                </c:pt>
                <c:pt idx="5">
                  <c:v>Meneesho</c:v>
                </c:pt>
                <c:pt idx="6">
                  <c:v>Menyntra</c:v>
                </c:pt>
                <c:pt idx="7">
                  <c:v>Myntra</c:v>
                </c:pt>
                <c:pt idx="8">
                  <c:v>Nalli</c:v>
                </c:pt>
                <c:pt idx="9">
                  <c:v>Others</c:v>
                </c:pt>
              </c:strCache>
            </c:strRef>
          </c:cat>
          <c:val>
            <c:numRef>
              <c:f>'Orders Channels'!$B$4:$B$13</c:f>
              <c:numCache>
                <c:formatCode>0.0%</c:formatCode>
                <c:ptCount val="10"/>
                <c:pt idx="0">
                  <c:v>6.2196025380874161E-2</c:v>
                </c:pt>
                <c:pt idx="1">
                  <c:v>0.35449479820916674</c:v>
                </c:pt>
                <c:pt idx="2">
                  <c:v>3.2209231165652075E-4</c:v>
                </c:pt>
                <c:pt idx="3">
                  <c:v>0.21589847650336585</c:v>
                </c:pt>
                <c:pt idx="4">
                  <c:v>4.4996295938415948E-2</c:v>
                </c:pt>
                <c:pt idx="5">
                  <c:v>3.2209231165652073E-5</c:v>
                </c:pt>
                <c:pt idx="6">
                  <c:v>5.7976616098173739E-4</c:v>
                </c:pt>
                <c:pt idx="7">
                  <c:v>0.23306599671465841</c:v>
                </c:pt>
                <c:pt idx="8">
                  <c:v>4.7798499049827678E-2</c:v>
                </c:pt>
                <c:pt idx="9">
                  <c:v>4.0615840499887271E-2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A38-447F-8CAE-BA0E72C65EE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278751143983592"/>
          <c:y val="5.9002657329395504E-2"/>
          <c:w val="0.22545836084832718"/>
          <c:h val="0.834544819595318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5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4DCE3"/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2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2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2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2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2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2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2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2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2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2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12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20" name="Google Shape;20;p12"/>
            <p:cNvSpPr/>
            <p:nvPr/>
          </p:nvSpPr>
          <p:spPr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2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2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2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2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2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2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2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2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1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68DBA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168DB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>
            <a:spLocks noGrp="1"/>
          </p:cNvSpPr>
          <p:nvPr>
            <p:ph type="ctrTitle"/>
          </p:nvPr>
        </p:nvSpPr>
        <p:spPr>
          <a:xfrm>
            <a:off x="1083214" y="759657"/>
            <a:ext cx="10829362" cy="1021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Arial Rounded"/>
              <a:buNone/>
            </a:pPr>
            <a:r>
              <a:rPr lang="en-US" sz="6000" b="1" u="sng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Vrinda Store Annual Report</a:t>
            </a:r>
            <a:endParaRPr sz="6000" b="1" u="sng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957335" y="4345969"/>
            <a:ext cx="938784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Vrinda store wants to create an annual sales report for 2025. So that, Vrinda can understand their customers and grow more sales in 2026.</a:t>
            </a:r>
            <a:endParaRPr/>
          </a:p>
        </p:txBody>
      </p:sp>
      <p:sp>
        <p:nvSpPr>
          <p:cNvPr id="166" name="Google Shape;166;p1"/>
          <p:cNvSpPr/>
          <p:nvPr/>
        </p:nvSpPr>
        <p:spPr>
          <a:xfrm>
            <a:off x="1957335" y="3553823"/>
            <a:ext cx="311636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sng">
                <a:solidFill>
                  <a:srgbClr val="0070C0"/>
                </a:solidFill>
                <a:latin typeface="Arial Black"/>
                <a:ea typeface="Arial Black"/>
                <a:cs typeface="Arial Black"/>
                <a:sym typeface="Arial Black"/>
              </a:rPr>
              <a:t>Objective</a:t>
            </a:r>
            <a:endParaRPr sz="44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/>
          <p:nvPr/>
        </p:nvSpPr>
        <p:spPr>
          <a:xfrm>
            <a:off x="1727322" y="707196"/>
            <a:ext cx="94515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1.Compare the sales and orders using single chart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84" name="Google Shape;184;p3"/>
          <p:cNvGraphicFramePr/>
          <p:nvPr/>
        </p:nvGraphicFramePr>
        <p:xfrm>
          <a:off x="5525037" y="1358162"/>
          <a:ext cx="6439435" cy="5035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5" name="Google Shape;185;p3"/>
          <p:cNvSpPr/>
          <p:nvPr/>
        </p:nvSpPr>
        <p:spPr>
          <a:xfrm>
            <a:off x="922986" y="1684385"/>
            <a:ext cx="4602051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chart above clearly shows: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C0C0C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</a:pPr>
            <a:r>
              <a:rPr lang="en-US" sz="2000" b="1" u="sng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March</a:t>
            </a:r>
            <a:r>
              <a:rPr lang="en-US" sz="2000" b="1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 had the highest sales (~₹19.28 L) and highest number of orders (2,819).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C0C0C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There’s a peak during Jan–Mar, then a gradual decline after April, reaching the lowest in Nov–Dec.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C0C0C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rgbClr val="0C0C0C"/>
                </a:solidFill>
                <a:latin typeface="Arial Rounded"/>
                <a:ea typeface="Arial Rounded"/>
                <a:cs typeface="Arial Rounded"/>
                <a:sym typeface="Arial Rounded"/>
              </a:rPr>
              <a:t>Sales amount remains relatively stable compared to the steeper drop in orders — indicating higher average order values early in the year.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1795450" y="681438"/>
            <a:ext cx="874470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2. Which month got the highest sales and orders?</a:t>
            </a:r>
            <a:endParaRPr/>
          </a:p>
        </p:txBody>
      </p:sp>
      <p:graphicFrame>
        <p:nvGraphicFramePr>
          <p:cNvPr id="191" name="Google Shape;191;p4"/>
          <p:cNvGraphicFramePr/>
          <p:nvPr/>
        </p:nvGraphicFramePr>
        <p:xfrm>
          <a:off x="5550794" y="1358162"/>
          <a:ext cx="6001554" cy="4372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2" name="Google Shape;192;p4"/>
          <p:cNvSpPr/>
          <p:nvPr/>
        </p:nvSpPr>
        <p:spPr>
          <a:xfrm>
            <a:off x="1026017" y="2027177"/>
            <a:ext cx="4524777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We already saw it from the data table: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March had the highest sales = ₹ 19,28,066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March had the highest orders = 2,819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1624819" y="707196"/>
            <a:ext cx="86102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3. Who purchased more- men or women in 2025?</a:t>
            </a:r>
            <a:endParaRPr sz="2800" b="1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aphicFrame>
        <p:nvGraphicFramePr>
          <p:cNvPr id="198" name="Google Shape;198;p5"/>
          <p:cNvGraphicFramePr/>
          <p:nvPr/>
        </p:nvGraphicFramePr>
        <p:xfrm>
          <a:off x="6980350" y="1584232"/>
          <a:ext cx="5022760" cy="339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9" name="Google Shape;199;p5"/>
          <p:cNvSpPr/>
          <p:nvPr/>
        </p:nvSpPr>
        <p:spPr>
          <a:xfrm>
            <a:off x="884350" y="1711336"/>
            <a:ext cx="609600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Women contributed the majority of both sales and orders: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Total Sales by Women ≈ ₹1.36 Crore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Total Sales by Men ≈ ₹0.76 Crore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Number of Orders: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Women → 21,553 orders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Men → 9,494 orders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84350" y="5589321"/>
            <a:ext cx="1096421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Women are the key customer base for Vrinda Store — almost 2× the contribution of men.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1810471" y="629923"/>
            <a:ext cx="74788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4. What are different order status in 2025?</a:t>
            </a:r>
            <a:endParaRPr sz="2800" b="1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aphicFrame>
        <p:nvGraphicFramePr>
          <p:cNvPr id="206" name="Google Shape;206;p6"/>
          <p:cNvGraphicFramePr/>
          <p:nvPr/>
        </p:nvGraphicFramePr>
        <p:xfrm>
          <a:off x="5112913" y="1442435"/>
          <a:ext cx="6542467" cy="4507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7" name="Google Shape;207;p6"/>
          <p:cNvSpPr/>
          <p:nvPr/>
        </p:nvSpPr>
        <p:spPr>
          <a:xfrm>
            <a:off x="708339" y="1442435"/>
            <a:ext cx="4224269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Delivered orders dominate the dataset (~28,641 orders)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Cancelled orders: 844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Refunded orders: 517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Overwhelming thing is that most of the orders (92%) are successful.</a:t>
            </a: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1923833" y="681438"/>
            <a:ext cx="80609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5. List top 10 states contributing to the sales?</a:t>
            </a:r>
            <a:endParaRPr/>
          </a:p>
        </p:txBody>
      </p:sp>
      <p:graphicFrame>
        <p:nvGraphicFramePr>
          <p:cNvPr id="213" name="Google Shape;213;p7"/>
          <p:cNvGraphicFramePr/>
          <p:nvPr/>
        </p:nvGraphicFramePr>
        <p:xfrm>
          <a:off x="2369713" y="1524301"/>
          <a:ext cx="9195515" cy="40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4" name="Google Shape;214;p7"/>
          <p:cNvSpPr txBox="1"/>
          <p:nvPr/>
        </p:nvSpPr>
        <p:spPr>
          <a:xfrm>
            <a:off x="1183831" y="5750004"/>
            <a:ext cx="104715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Maharashtra , UP and Karnataka alone account for a significant share of national sales.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1738648" y="658849"/>
            <a:ext cx="98008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6. Relation between age and gender based on number.</a:t>
            </a:r>
            <a:endParaRPr sz="2800" b="1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graphicFrame>
        <p:nvGraphicFramePr>
          <p:cNvPr id="220" name="Google Shape;220;p8"/>
          <p:cNvGraphicFramePr/>
          <p:nvPr/>
        </p:nvGraphicFramePr>
        <p:xfrm>
          <a:off x="5375700" y="1710865"/>
          <a:ext cx="5803162" cy="4226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1" name="Google Shape;221;p8"/>
          <p:cNvSpPr/>
          <p:nvPr/>
        </p:nvSpPr>
        <p:spPr>
          <a:xfrm>
            <a:off x="729803" y="1710865"/>
            <a:ext cx="4524777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Adults (age 20–49) form the largest group, especially Adult Women, contributing the highest number of orders.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Senior Women also place more orders than Senior Men.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Men’s contribution is consistently lower across all age groups.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Insight :-Targeting Adult Women customers is strategically the most valuable.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1731604" y="681438"/>
            <a:ext cx="913096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7. Which channel is contributing to maximum sales?</a:t>
            </a:r>
            <a:endParaRPr/>
          </a:p>
        </p:txBody>
      </p:sp>
      <p:graphicFrame>
        <p:nvGraphicFramePr>
          <p:cNvPr id="227" name="Google Shape;227;p9"/>
          <p:cNvGraphicFramePr/>
          <p:nvPr/>
        </p:nvGraphicFramePr>
        <p:xfrm>
          <a:off x="5460641" y="1424051"/>
          <a:ext cx="6482829" cy="4323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8" name="Google Shape;228;p9"/>
          <p:cNvSpPr/>
          <p:nvPr/>
        </p:nvSpPr>
        <p:spPr>
          <a:xfrm>
            <a:off x="560563" y="1508504"/>
            <a:ext cx="4900078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Amazon is the top sales channel with over 35% of total orders.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Other channels: Ajio (~6%), Meesho (21.6%), Flipkart (4.5%), Myntra (23.6%), etc.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</a:pP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Rounded"/>
              <a:buChar char="•"/>
            </a:pPr>
            <a:r>
              <a:rPr lang="en-US" sz="24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Amazon , Flipkart and Myntra channels are max contributing (~80%).</a:t>
            </a:r>
            <a:endParaRPr sz="24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1779043" y="430795"/>
            <a:ext cx="94945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8. Highest selling category?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1406769" y="1730326"/>
            <a:ext cx="10128739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“Set” and “Kurta” categories are the highest-selling product categories in terms of both units sold and revenue.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Sizes M, L, and XL dominate the volume.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Insights:- Product strategy should emphasize these categories &amp; popular sizes.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970671" y="1603718"/>
            <a:ext cx="10494499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This page will only contain actionable insights to boost Vrinda Store’s sales, written in crisp bullet points, e.g.: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Focus on adult women customers → They are the biggest buyers.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Plan marketing campaigns in Q1 (esp. March) → historically highest sales.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Double down on top-performing states (Maharashtra, Karnataka, UP).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Strengthen presence on Amazon channel → maximum contribution.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Stock high-demand products like Sets and Kurtas in M–XL sizes.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 Maintain high delivery success; reduce cancellations further.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2138289" y="618978"/>
            <a:ext cx="817332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sng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Key insights :-</a:t>
            </a:r>
            <a:endParaRPr sz="4000" b="1" u="sng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Black</vt:lpstr>
      <vt:lpstr>Noto Sans Symbols</vt:lpstr>
      <vt:lpstr>Century Gothic</vt:lpstr>
      <vt:lpstr>Arial Rounded</vt:lpstr>
      <vt:lpstr>Arial</vt:lpstr>
      <vt:lpstr>Wisp</vt:lpstr>
      <vt:lpstr>Vrinda Store Annual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Vrinda Store Annual Report</dc:title>
  <dc:creator>USER</dc:creator>
  <cp:lastModifiedBy>rohit g</cp:lastModifiedBy>
  <cp:revision>1</cp:revision>
  <dcterms:created xsi:type="dcterms:W3CDTF">2025-10-03T21:45:42Z</dcterms:created>
  <dcterms:modified xsi:type="dcterms:W3CDTF">2026-06-03T08:35:53Z</dcterms:modified>
</cp:coreProperties>
</file>